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AA3ECB-63E5-64AB-3768-E5E796AFA122}" v="322" dt="2026-09-10T13:33:32.127"/>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github.com/yjawahar/Jawahar--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609834" y="3657600"/>
            <a:ext cx="5089742" cy="1047593"/>
          </a:xfrm>
        </p:spPr>
        <p:txBody>
          <a:bodyPr vert="horz" wrap="square" lIns="91440" tIns="45720" rIns="91440" bIns="45720" rtlCol="0" anchor="t">
            <a:normAutofit/>
          </a:bodyPr>
          <a:lstStyle/>
          <a:p>
            <a:pPr algn="r">
              <a:spcAft>
                <a:spcPts val="400"/>
              </a:spcAft>
            </a:pPr>
            <a:r>
              <a:rPr sz="1300" b="0" i="0" dirty="0">
                <a:solidFill>
                  <a:srgbClr val="1E293B"/>
                </a:solidFill>
                <a:latin typeface="Times New Roman"/>
                <a:cs typeface="Times New Roman"/>
              </a:rPr>
              <a:t>Student Name:</a:t>
            </a:r>
            <a:r>
              <a:rPr lang="en-US" sz="1300" b="0" dirty="0">
                <a:solidFill>
                  <a:srgbClr val="1E293B"/>
                </a:solidFill>
                <a:latin typeface="Times New Roman"/>
                <a:cs typeface="Times New Roman"/>
              </a:rPr>
              <a:t> </a:t>
            </a:r>
            <a:r>
              <a:rPr sz="1300" b="0" i="0" dirty="0">
                <a:solidFill>
                  <a:srgbClr val="1E293B"/>
                </a:solidFill>
                <a:latin typeface="Times New Roman"/>
                <a:cs typeface="Times New Roman"/>
              </a:rPr>
              <a:t> </a:t>
            </a:r>
            <a:r>
              <a:rPr sz="1300" i="0" dirty="0">
                <a:solidFill>
                  <a:srgbClr val="1E293B"/>
                </a:solidFill>
                <a:latin typeface="Times New Roman"/>
                <a:cs typeface="Times New Roman"/>
              </a:rPr>
              <a:t>YERRAMSETTY Hemantha Jawahar Krishna Babu</a:t>
            </a:r>
            <a:r>
              <a:rPr lang="en-US" sz="1300" dirty="0">
                <a:solidFill>
                  <a:srgbClr val="1E293B"/>
                </a:solidFill>
                <a:latin typeface="Times New Roman"/>
                <a:cs typeface="Times New Roman"/>
              </a:rPr>
              <a:t> </a:t>
            </a:r>
          </a:p>
          <a:p>
            <a:r>
              <a:rPr sz="1300" b="0" i="0" dirty="0">
                <a:solidFill>
                  <a:srgbClr val="1E293B"/>
                </a:solidFill>
                <a:latin typeface="Times New Roman"/>
                <a:cs typeface="Times New Roman"/>
              </a:rPr>
              <a:t>College Name:</a:t>
            </a:r>
            <a:r>
              <a:rPr lang="en-US" sz="1300" b="0" dirty="0">
                <a:solidFill>
                  <a:srgbClr val="1E293B"/>
                </a:solidFill>
                <a:latin typeface="Times New Roman"/>
                <a:cs typeface="Times New Roman"/>
              </a:rPr>
              <a:t> </a:t>
            </a:r>
            <a:r>
              <a:rPr lang="en-US" sz="1300" dirty="0">
                <a:solidFill>
                  <a:srgbClr val="1E293B"/>
                </a:solidFill>
                <a:latin typeface="Times New Roman"/>
                <a:cs typeface="Times New Roman"/>
              </a:rPr>
              <a:t>Vasavi college of engineering</a:t>
            </a:r>
            <a:endParaRPr sz="1300" i="0" dirty="0">
              <a:solidFill>
                <a:srgbClr val="1E293B"/>
              </a:solidFill>
              <a:latin typeface="Times New Roman"/>
              <a:cs typeface="Times New Roman"/>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6656" y="2377440"/>
            <a:ext cx="8686800" cy="1097280"/>
          </a:xfrm>
        </p:spPr>
        <p:txBody>
          <a:bodyPr wrap="square">
            <a:normAutofit/>
          </a:bodyPr>
          <a:lstStyle/>
          <a:p>
            <a:pPr algn="l"/>
            <a:r>
              <a:rPr sz="2800" b="1" i="0" dirty="0">
                <a:solidFill>
                  <a:srgbClr val="1E3A5F"/>
                </a:solidFill>
                <a:latin typeface="Times New Roman"/>
                <a:cs typeface="Times New Roman"/>
              </a:rPr>
              <a:t>Seasonal </a:t>
            </a:r>
            <a:r>
              <a:rPr sz="2800" b="1" i="0" dirty="0">
                <a:latin typeface="Times New Roman"/>
                <a:cs typeface="Times New Roman"/>
              </a:rPr>
              <a:t>Agriculture</a:t>
            </a:r>
            <a:r>
              <a:rPr sz="2800" b="1" i="0" dirty="0">
                <a:solidFill>
                  <a:srgbClr val="1E3A5F"/>
                </a:solidFill>
                <a:latin typeface="Times New Roman"/>
                <a:cs typeface="Times New Roman"/>
              </a:rPr>
              <a:t> Performance Analysis</a:t>
            </a:r>
            <a:endParaRPr lang="en-IN" sz="3200" dirty="0">
              <a:latin typeface="Times New Roman"/>
              <a:cs typeface="Times New Roman"/>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609834" y="4416886"/>
            <a:ext cx="7772400" cy="292388"/>
          </a:xfrm>
          <a:prstGeom prst="rect">
            <a:avLst/>
          </a:prstGeom>
          <a:noFill/>
        </p:spPr>
        <p:txBody>
          <a:bodyPr wrap="square" lIns="91440" tIns="45720" rIns="91440" bIns="45720" rtlCol="0" anchor="t">
            <a:spAutoFit/>
          </a:bodyPr>
          <a:lstStyle/>
          <a:p>
            <a:r>
              <a:rPr sz="1300" b="0" i="0" dirty="0">
                <a:solidFill>
                  <a:srgbClr val="1E293B"/>
                </a:solidFill>
                <a:latin typeface="Times New Roman"/>
                <a:cs typeface="Times New Roman"/>
              </a:rPr>
              <a:t>AICTE STU ID</a:t>
            </a:r>
            <a:r>
              <a:rPr sz="1200" b="0" i="0" dirty="0">
                <a:solidFill>
                  <a:srgbClr val="1E293B"/>
                </a:solidFill>
                <a:latin typeface="Times New Roman"/>
                <a:cs typeface="Times New Roman"/>
              </a:rPr>
              <a:t>: </a:t>
            </a:r>
            <a:r>
              <a:rPr lang="en-US" sz="1000" b="1" dirty="0">
                <a:solidFill>
                  <a:srgbClr val="020617"/>
                </a:solidFill>
                <a:highlight>
                  <a:srgbClr val="FFFFFF"/>
                </a:highlight>
                <a:latin typeface="Times New Roman"/>
                <a:ea typeface="+mn-lt"/>
                <a:cs typeface="Times New Roman"/>
              </a:rPr>
              <a:t>STU66182696628831712858774</a:t>
            </a:r>
            <a:endParaRPr lang="en-US" dirty="0">
              <a:latin typeface="Times New Roman"/>
              <a:cs typeface="Times New Roman"/>
            </a:endParaRPr>
          </a:p>
        </p:txBody>
      </p:sp>
      <p:sp>
        <p:nvSpPr>
          <p:cNvPr id="38" name="TextBox 37"/>
          <p:cNvSpPr txBox="1"/>
          <p:nvPr/>
        </p:nvSpPr>
        <p:spPr>
          <a:xfrm>
            <a:off x="676656" y="5915416"/>
            <a:ext cx="4955203" cy="246221"/>
          </a:xfrm>
          <a:prstGeom prst="rect">
            <a:avLst/>
          </a:prstGeom>
          <a:noFill/>
        </p:spPr>
        <p:txBody>
          <a:bodyPr wrap="none" lIns="91440" tIns="45720" rIns="91440" bIns="45720" anchor="t">
            <a:spAutoFit/>
          </a:bodyPr>
          <a:lstStyle/>
          <a:p>
            <a:r>
              <a:rPr lang="en-US" sz="1000" i="1" dirty="0" err="1">
                <a:latin typeface="Times New Roman"/>
                <a:cs typeface="Times New Roman"/>
              </a:rPr>
              <a:t>Github</a:t>
            </a:r>
            <a:r>
              <a:rPr lang="en-US" sz="1000" i="1" dirty="0">
                <a:latin typeface="Times New Roman"/>
                <a:cs typeface="Times New Roman"/>
              </a:rPr>
              <a:t> :  </a:t>
            </a:r>
            <a:r>
              <a:rPr lang="en-US" sz="1000" dirty="0">
                <a:latin typeface="Times New Roman"/>
                <a:ea typeface="+mn-lt"/>
                <a:cs typeface="Times New Roman"/>
                <a:hlinkClick r:id="rId3">
                  <a:extLst>
                    <a:ext uri="{A12FA001-AC4F-418D-AE19-62706E023703}">
                      <ahyp:hlinkClr xmlns:ahyp="http://schemas.microsoft.com/office/drawing/2018/hyperlinkcolor" val="tx"/>
                    </a:ext>
                  </a:extLst>
                </a:hlinkClick>
              </a:rPr>
              <a:t>https://github.com/yjawahar/Jawahar--Seasonal-Agriculture-Performance-Analysis</a:t>
            </a:r>
            <a:endParaRPr lang="en-US" sz="1000" b="0" i="1">
              <a:latin typeface="Times New Roman"/>
              <a:ea typeface="+mn-lt"/>
              <a:cs typeface="Times New Roman"/>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604013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72647" y="2071387"/>
            <a:ext cx="6766560" cy="4114800"/>
          </a:xfrm>
        </p:spPr>
        <p:txBody>
          <a:bodyPr vert="horz" wrap="square" lIns="91440" tIns="45720" rIns="91440" bIns="45720" rtlCol="0" anchor="t">
            <a:normAutofit/>
          </a:bodyPr>
          <a:lstStyle/>
          <a:p>
            <a:pPr>
              <a:lnSpc>
                <a:spcPct val="100000"/>
              </a:lnSpc>
              <a:spcAft>
                <a:spcPts val="1400"/>
              </a:spcAft>
            </a:pPr>
            <a:r>
              <a:rPr sz="1300" b="0" i="0" dirty="0">
                <a:solidFill>
                  <a:srgbClr val="1E293B"/>
                </a:solidFill>
                <a:latin typeface="Times New Roman"/>
                <a:cs typeface="Times New Roman"/>
              </a:rPr>
              <a:t>Agricultural performance changes with seasonal conditions, farming practices, resource availability, and market conditions. Raw agricultural data does not clearly show how these factors relate to yield, production, profit, and resource use.</a:t>
            </a:r>
            <a:endParaRPr lang="en-IN" sz="1300" dirty="0">
              <a:latin typeface="Times New Roman"/>
              <a:cs typeface="Times New Roman"/>
            </a:endParaRPr>
          </a:p>
          <a:p>
            <a:pPr>
              <a:spcAft>
                <a:spcPts val="1000"/>
              </a:spcAft>
            </a:pPr>
            <a:r>
              <a:rPr sz="1300" b="0" i="0" dirty="0">
                <a:solidFill>
                  <a:srgbClr val="1E293B"/>
                </a:solidFill>
                <a:latin typeface="Times New Roman"/>
                <a:cs typeface="Times New Roman"/>
              </a:rPr>
              <a:t>This project analyzes the supplied agricultural dataset to identify meaningful seasonal patterns, relationships, and variations in agricultural performance.</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wrap="square">
            <a:normAutofit/>
          </a:bodyPr>
          <a:lstStyle/>
          <a:p>
            <a:pPr algn="l"/>
            <a:r>
              <a:rPr sz="2400" b="1" i="0" dirty="0">
                <a:solidFill>
                  <a:srgbClr val="1E3A5F"/>
                </a:solidFill>
                <a:latin typeface="Times New Roman"/>
                <a:cs typeface="Times New Roman"/>
              </a:rPr>
              <a:t>PROBLEM </a:t>
            </a:r>
            <a:r>
              <a:rPr sz="2800" b="1" i="0" dirty="0">
                <a:solidFill>
                  <a:srgbClr val="1E3A5F"/>
                </a:solidFill>
                <a:latin typeface="Times New Roman"/>
                <a:cs typeface="Times New Roman"/>
              </a:rPr>
              <a:t>STATEMENT</a:t>
            </a:r>
            <a:endParaRPr lang="en-IN" sz="2800" dirty="0">
              <a:latin typeface="Times New Roman"/>
              <a:cs typeface="Times New Roman"/>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wrap="square">
            <a:normAutofit/>
          </a:bodyPr>
          <a:lstStyle/>
          <a:p>
            <a:pPr algn="l"/>
            <a:r>
              <a:rPr sz="2800" b="1" i="0" dirty="0">
                <a:solidFill>
                  <a:srgbClr val="1E3A5F"/>
                </a:solidFill>
                <a:latin typeface="Times New Roman"/>
                <a:cs typeface="Times New Roman"/>
              </a:rPr>
              <a:t>Project Description</a:t>
            </a:r>
            <a:endParaRPr lang="en-IN" sz="2800" dirty="0">
              <a:latin typeface="Times New Roman"/>
              <a:cs typeface="Times New Roman"/>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58368" y="2003329"/>
            <a:ext cx="10789920" cy="2585323"/>
          </a:xfrm>
          <a:prstGeom prst="rect">
            <a:avLst/>
          </a:prstGeom>
          <a:noFill/>
        </p:spPr>
        <p:txBody>
          <a:bodyPr wrap="square" lIns="91440" tIns="45720" rIns="91440" bIns="45720" anchor="t">
            <a:spAutoFit/>
          </a:bodyPr>
          <a:lstStyle/>
          <a:p>
            <a:pPr>
              <a:spcAft>
                <a:spcPts val="1200"/>
              </a:spcAft>
            </a:pPr>
            <a:r>
              <a:rPr sz="1300" b="0" i="0" dirty="0">
                <a:solidFill>
                  <a:srgbClr val="1E293B"/>
                </a:solidFill>
                <a:latin typeface="Times New Roman"/>
                <a:cs typeface="Times New Roman"/>
              </a:rPr>
              <a:t>This project uses exploratory data analysis and statistical testing to compare agricultural performance across Kharif, Rabi, and Zaid seasons.</a:t>
            </a:r>
            <a:endParaRPr lang="en-US" sz="1300" b="0" i="0" dirty="0">
              <a:solidFill>
                <a:srgbClr val="1E293B"/>
              </a:solidFill>
              <a:latin typeface="Times New Roman"/>
              <a:cs typeface="Times New Roman"/>
            </a:endParaRPr>
          </a:p>
          <a:p>
            <a:pPr>
              <a:spcAft>
                <a:spcPts val="600"/>
              </a:spcAft>
            </a:pPr>
            <a:r>
              <a:rPr sz="1300" b="1" i="0" dirty="0">
                <a:solidFill>
                  <a:srgbClr val="1E3A5F"/>
                </a:solidFill>
                <a:latin typeface="Times New Roman"/>
                <a:cs typeface="Times New Roman"/>
              </a:rPr>
              <a:t>Analysis Workflow:</a:t>
            </a:r>
          </a:p>
          <a:p>
            <a:pPr algn="l">
              <a:spcAft>
                <a:spcPts val="600"/>
              </a:spcAft>
            </a:pPr>
            <a:r>
              <a:rPr sz="1300" b="1" i="0" dirty="0">
                <a:solidFill>
                  <a:srgbClr val="1E3A5F"/>
                </a:solidFill>
                <a:latin typeface="Times New Roman"/>
                <a:cs typeface="Times New Roman"/>
              </a:rPr>
              <a:t>• Loaded and Reviewed Dataset: </a:t>
            </a:r>
            <a:r>
              <a:rPr sz="1300" b="0" i="0" dirty="0">
                <a:solidFill>
                  <a:srgbClr val="1E293B"/>
                </a:solidFill>
                <a:latin typeface="Times New Roman"/>
                <a:cs typeface="Times New Roman"/>
              </a:rPr>
              <a:t>Loaded and reviewed the agricultural dataset comprising 4,000 observations across 28 features</a:t>
            </a:r>
          </a:p>
          <a:p>
            <a:pPr algn="l">
              <a:spcAft>
                <a:spcPts val="600"/>
              </a:spcAft>
            </a:pPr>
            <a:r>
              <a:rPr sz="1300" b="1" i="0" dirty="0">
                <a:solidFill>
                  <a:srgbClr val="1E3A5F"/>
                </a:solidFill>
                <a:latin typeface="Times New Roman"/>
                <a:cs typeface="Times New Roman"/>
              </a:rPr>
              <a:t>• Checked Quality &amp; Integrity: </a:t>
            </a:r>
            <a:r>
              <a:rPr sz="1300" b="0" i="0" dirty="0">
                <a:solidFill>
                  <a:srgbClr val="1E293B"/>
                </a:solidFill>
                <a:latin typeface="Times New Roman"/>
                <a:cs typeface="Times New Roman"/>
              </a:rPr>
              <a:t>Checked missing values and duplicate records to ensure data cleanliness and consistency</a:t>
            </a:r>
          </a:p>
          <a:p>
            <a:pPr algn="l">
              <a:spcAft>
                <a:spcPts val="600"/>
              </a:spcAft>
            </a:pPr>
            <a:r>
              <a:rPr sz="1300" b="1" i="0" dirty="0">
                <a:solidFill>
                  <a:srgbClr val="1E3A5F"/>
                </a:solidFill>
                <a:latin typeface="Times New Roman"/>
                <a:cs typeface="Times New Roman"/>
              </a:rPr>
              <a:t>• Cleaned &amp; Imputed Data: </a:t>
            </a:r>
            <a:r>
              <a:rPr sz="1300" b="0" i="0" dirty="0">
                <a:solidFill>
                  <a:srgbClr val="1E293B"/>
                </a:solidFill>
                <a:latin typeface="Times New Roman"/>
                <a:cs typeface="Times New Roman"/>
              </a:rPr>
              <a:t>Cleaned duplicate records (0 found) and imputed missing numeric values using median imputation</a:t>
            </a:r>
          </a:p>
          <a:p>
            <a:pPr algn="l">
              <a:spcAft>
                <a:spcPts val="600"/>
              </a:spcAft>
            </a:pPr>
            <a:r>
              <a:rPr sz="1300" b="1" i="0" dirty="0">
                <a:solidFill>
                  <a:srgbClr val="1E3A5F"/>
                </a:solidFill>
                <a:latin typeface="Times New Roman"/>
                <a:cs typeface="Times New Roman"/>
              </a:rPr>
              <a:t>• Calculated Seasonal Summaries: </a:t>
            </a:r>
            <a:r>
              <a:rPr sz="1300" b="0" i="0" dirty="0">
                <a:solidFill>
                  <a:srgbClr val="1E293B"/>
                </a:solidFill>
                <a:latin typeface="Times New Roman"/>
                <a:cs typeface="Times New Roman"/>
              </a:rPr>
              <a:t>Calculated seasonal summaries for yield, production, profit, water use, water efficiency, and profit margin</a:t>
            </a:r>
          </a:p>
          <a:p>
            <a:pPr algn="l">
              <a:spcAft>
                <a:spcPts val="600"/>
              </a:spcAft>
            </a:pPr>
            <a:r>
              <a:rPr sz="1300" b="1" i="0" dirty="0">
                <a:solidFill>
                  <a:srgbClr val="1E3A5F"/>
                </a:solidFill>
                <a:latin typeface="Times New Roman"/>
                <a:cs typeface="Times New Roman"/>
              </a:rPr>
              <a:t>• Exploratory Visualizations: </a:t>
            </a:r>
            <a:r>
              <a:rPr sz="1300" b="0" i="0" dirty="0">
                <a:solidFill>
                  <a:srgbClr val="1E293B"/>
                </a:solidFill>
                <a:latin typeface="Times New Roman"/>
                <a:cs typeface="Times New Roman"/>
              </a:rPr>
              <a:t>Visualized distributions, seasonal differences, and multi-variable correlations</a:t>
            </a:r>
          </a:p>
          <a:p>
            <a:pPr algn="l">
              <a:spcAft>
                <a:spcPts val="600"/>
              </a:spcAft>
            </a:pPr>
            <a:r>
              <a:rPr sz="1300" b="1" i="0" dirty="0">
                <a:solidFill>
                  <a:srgbClr val="1E3A5F"/>
                </a:solidFill>
                <a:latin typeface="Times New Roman"/>
                <a:cs typeface="Times New Roman"/>
              </a:rPr>
              <a:t>• Statistical Testing: </a:t>
            </a:r>
            <a:r>
              <a:rPr sz="1300" b="0" i="0" dirty="0">
                <a:solidFill>
                  <a:srgbClr val="1E293B"/>
                </a:solidFill>
                <a:latin typeface="Times New Roman"/>
                <a:cs typeface="Times New Roman"/>
              </a:rPr>
              <a:t>Used Kruskal-Wallis tests to assess observed differences across seasons rigorously</a:t>
            </a:r>
          </a:p>
          <a:p>
            <a:pPr algn="l">
              <a:spcAft>
                <a:spcPts val="600"/>
              </a:spcAft>
            </a:pPr>
            <a:r>
              <a:rPr sz="1300" b="1" i="0" dirty="0">
                <a:solidFill>
                  <a:srgbClr val="1E3A5F"/>
                </a:solidFill>
                <a:latin typeface="Times New Roman"/>
                <a:cs typeface="Times New Roman"/>
              </a:rPr>
              <a:t>• Evidence-Based Recommendations: </a:t>
            </a:r>
            <a:r>
              <a:rPr sz="1300" b="0" i="0" dirty="0">
                <a:solidFill>
                  <a:srgbClr val="1E293B"/>
                </a:solidFill>
                <a:latin typeface="Times New Roman"/>
                <a:cs typeface="Times New Roman"/>
              </a:rPr>
              <a:t>Developed evidence-based recommendations while treating the analysis as observational, not causal</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2376" y="2032139"/>
            <a:ext cx="10241280" cy="4389120"/>
          </a:xfrm>
        </p:spPr>
        <p:txBody>
          <a:bodyPr vert="horz" wrap="square" lIns="91440" tIns="45720" rIns="91440" bIns="45720" rtlCol="0" anchor="t">
            <a:normAutofit/>
          </a:bodyPr>
          <a:lstStyle/>
          <a:p>
            <a:pPr algn="just">
              <a:lnSpc>
                <a:spcPct val="150000"/>
              </a:lnSpc>
              <a:spcAft>
                <a:spcPts val="1000"/>
              </a:spcAft>
            </a:pPr>
            <a:r>
              <a:rPr sz="1300" b="0" i="0" dirty="0">
                <a:solidFill>
                  <a:srgbClr val="1E293B"/>
                </a:solidFill>
                <a:latin typeface="Times New Roman"/>
                <a:cs typeface="Times New Roman"/>
              </a:rPr>
              <a:t>The analytical findings and seasonal benchmarks directly benefit key agricultural stakeholders:</a:t>
            </a:r>
            <a:endParaRPr lang="en-IN" sz="1300" dirty="0">
              <a:latin typeface="Times New Roman"/>
              <a:cs typeface="Times New Roman"/>
            </a:endParaRPr>
          </a:p>
          <a:p>
            <a:pPr algn="l">
              <a:spcAft>
                <a:spcPts val="700"/>
              </a:spcAft>
            </a:pPr>
            <a:r>
              <a:rPr sz="1300" b="1" i="0" dirty="0">
                <a:solidFill>
                  <a:srgbClr val="1E3A5F"/>
                </a:solidFill>
                <a:latin typeface="Times New Roman"/>
                <a:cs typeface="Times New Roman"/>
              </a:rPr>
              <a:t>• Farmers: </a:t>
            </a:r>
            <a:r>
              <a:rPr sz="1300" b="0" i="0" dirty="0">
                <a:solidFill>
                  <a:srgbClr val="1E293B"/>
                </a:solidFill>
                <a:latin typeface="Times New Roman"/>
                <a:cs typeface="Times New Roman"/>
              </a:rPr>
              <a:t>For comparing seasonal crop performance and resource use to select high-yield crops, optimize input schedules, and manage operational expenditures.</a:t>
            </a:r>
          </a:p>
          <a:p>
            <a:pPr algn="l">
              <a:spcAft>
                <a:spcPts val="700"/>
              </a:spcAft>
            </a:pPr>
            <a:r>
              <a:rPr sz="1300" b="1" i="0" dirty="0">
                <a:solidFill>
                  <a:srgbClr val="1E3A5F"/>
                </a:solidFill>
                <a:latin typeface="Times New Roman"/>
                <a:cs typeface="Times New Roman"/>
              </a:rPr>
              <a:t>• Agricultural Planners: </a:t>
            </a:r>
            <a:r>
              <a:rPr sz="1300" b="0" i="0" dirty="0">
                <a:solidFill>
                  <a:srgbClr val="1E293B"/>
                </a:solidFill>
                <a:latin typeface="Times New Roman"/>
                <a:cs typeface="Times New Roman"/>
              </a:rPr>
              <a:t>For identifying seasonal trends, water stress vulnerabilities, and regional production deficits that require timely logistical intervention.</a:t>
            </a:r>
          </a:p>
          <a:p>
            <a:pPr algn="l">
              <a:spcAft>
                <a:spcPts val="700"/>
              </a:spcAft>
            </a:pPr>
            <a:r>
              <a:rPr sz="1300" b="1" i="0" dirty="0">
                <a:solidFill>
                  <a:srgbClr val="1E3A5F"/>
                </a:solidFill>
                <a:latin typeface="Times New Roman"/>
                <a:cs typeface="Times New Roman"/>
              </a:rPr>
              <a:t>• Extension Officers: </a:t>
            </a:r>
            <a:r>
              <a:rPr sz="1300" b="0" i="0" dirty="0">
                <a:solidFill>
                  <a:srgbClr val="1E293B"/>
                </a:solidFill>
                <a:latin typeface="Times New Roman"/>
                <a:cs typeface="Times New Roman"/>
              </a:rPr>
              <a:t>For supporting crop- and region-specific guidance, promoting modern water-efficient irrigation methods, and delivering customized farm advisory.</a:t>
            </a:r>
          </a:p>
          <a:p>
            <a:pPr algn="l">
              <a:spcAft>
                <a:spcPts val="700"/>
              </a:spcAft>
            </a:pPr>
            <a:r>
              <a:rPr sz="1300" b="1" i="0" dirty="0">
                <a:solidFill>
                  <a:srgbClr val="1E3A5F"/>
                </a:solidFill>
                <a:latin typeface="Times New Roman"/>
                <a:cs typeface="Times New Roman"/>
              </a:rPr>
              <a:t>• Researchers and Analysts: </a:t>
            </a:r>
            <a:r>
              <a:rPr sz="1300" b="0" i="0" dirty="0">
                <a:solidFill>
                  <a:srgbClr val="1E293B"/>
                </a:solidFill>
                <a:latin typeface="Times New Roman"/>
                <a:cs typeface="Times New Roman"/>
              </a:rPr>
              <a:t>For investigating seasonal differences in farm outcomes with transparent, reproducible statistical workflows and empirical benchmarks.</a:t>
            </a:r>
          </a:p>
          <a:p>
            <a:pPr algn="l">
              <a:spcAft>
                <a:spcPts val="700"/>
              </a:spcAft>
            </a:pPr>
            <a:r>
              <a:rPr sz="1300" b="1" i="0" dirty="0">
                <a:solidFill>
                  <a:srgbClr val="1E3A5F"/>
                </a:solidFill>
                <a:latin typeface="Times New Roman"/>
                <a:cs typeface="Times New Roman"/>
              </a:rPr>
              <a:t>• Agricultural Policy Stakeholders: </a:t>
            </a:r>
            <a:r>
              <a:rPr sz="1300" b="0" i="0" dirty="0">
                <a:solidFill>
                  <a:srgbClr val="1E293B"/>
                </a:solidFill>
                <a:latin typeface="Times New Roman"/>
                <a:cs typeface="Times New Roman"/>
              </a:rPr>
              <a:t>For evidence-based resource allocation, market price support schemes, and sustainable resource management.</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wrap="square">
            <a:normAutofit/>
          </a:bodyPr>
          <a:lstStyle/>
          <a:p>
            <a:pPr algn="l"/>
            <a:r>
              <a:rPr sz="2800" b="1" i="0" dirty="0">
                <a:solidFill>
                  <a:srgbClr val="1E3A5F"/>
                </a:solidFill>
                <a:latin typeface="Times New Roman"/>
                <a:cs typeface="Times New Roman"/>
              </a:rPr>
              <a:t>WHO ARE THE END USERS?</a:t>
            </a:r>
            <a:endParaRPr lang="en-IN" sz="2800" dirty="0">
              <a:latin typeface="Times New Roman"/>
              <a:cs typeface="Times New Roman"/>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45920" y="1650930"/>
            <a:ext cx="9601200" cy="4754880"/>
          </a:xfrm>
        </p:spPr>
        <p:txBody>
          <a:bodyPr vert="horz" wrap="square" lIns="91440" tIns="45720" rIns="91440" bIns="45720" rtlCol="0" anchor="t">
            <a:normAutofit/>
          </a:bodyPr>
          <a:lstStyle/>
          <a:p>
            <a:pPr>
              <a:buNone/>
            </a:pPr>
            <a:r>
              <a:rPr lang="en-US" sz="1300" b="1" dirty="0">
                <a:solidFill>
                  <a:srgbClr val="1E3A5F"/>
                </a:solidFill>
                <a:latin typeface="Times New Roman"/>
                <a:cs typeface="Times New Roman"/>
              </a:rPr>
              <a:t>• </a:t>
            </a:r>
            <a:r>
              <a:rPr lang="en-IN" sz="1300" b="1" dirty="0">
                <a:solidFill>
                  <a:srgbClr val="1E3A5F"/>
                </a:solidFill>
                <a:latin typeface="Times New Roman"/>
                <a:cs typeface="Times New Roman"/>
              </a:rPr>
              <a:t>Google </a:t>
            </a:r>
            <a:r>
              <a:rPr lang="en-IN" sz="1300" b="1" dirty="0" err="1">
                <a:solidFill>
                  <a:srgbClr val="1E3A5F"/>
                </a:solidFill>
                <a:latin typeface="Times New Roman"/>
                <a:cs typeface="Times New Roman"/>
              </a:rPr>
              <a:t>Colab</a:t>
            </a:r>
            <a:r>
              <a:rPr lang="en-IN" sz="1300" b="1" dirty="0">
                <a:solidFill>
                  <a:srgbClr val="1E3A5F"/>
                </a:solidFill>
                <a:latin typeface="Times New Roman"/>
                <a:cs typeface="Times New Roman"/>
              </a:rPr>
              <a:t>: </a:t>
            </a:r>
            <a:r>
              <a:rPr lang="en-IN" sz="1300" dirty="0">
                <a:solidFill>
                  <a:srgbClr val="1E293B"/>
                </a:solidFill>
                <a:latin typeface="Times New Roman"/>
                <a:cs typeface="Times New Roman"/>
              </a:rPr>
              <a:t>Cloud-hosted Jupyter notebook platform used for interactive execution, testing, and team reproducibility.</a:t>
            </a:r>
            <a:endParaRPr lang="en-US" sz="1300">
              <a:solidFill>
                <a:srgbClr val="000000"/>
              </a:solidFill>
              <a:latin typeface="Times New Roman"/>
              <a:cs typeface="Times New Roman"/>
            </a:endParaRPr>
          </a:p>
          <a:p>
            <a:pPr marL="0" indent="0">
              <a:lnSpc>
                <a:spcPct val="150000"/>
              </a:lnSpc>
              <a:spcAft>
                <a:spcPts val="800"/>
              </a:spcAft>
              <a:buNone/>
            </a:pPr>
            <a:r>
              <a:rPr lang="en-US" sz="1300" b="1" dirty="0">
                <a:solidFill>
                  <a:srgbClr val="1E3A5F"/>
                </a:solidFill>
                <a:latin typeface="Times New Roman"/>
                <a:cs typeface="Times New Roman"/>
              </a:rPr>
              <a:t>• </a:t>
            </a:r>
            <a:r>
              <a:rPr sz="1300" b="1" i="0" dirty="0">
                <a:solidFill>
                  <a:srgbClr val="1E3A5F"/>
                </a:solidFill>
                <a:latin typeface="Times New Roman"/>
                <a:cs typeface="Times New Roman"/>
              </a:rPr>
              <a:t>Python 3: </a:t>
            </a:r>
            <a:r>
              <a:rPr sz="1300" b="0" i="0" dirty="0">
                <a:solidFill>
                  <a:srgbClr val="1E293B"/>
                </a:solidFill>
                <a:latin typeface="Times New Roman"/>
                <a:cs typeface="Times New Roman"/>
              </a:rPr>
              <a:t>Primary programming language providing scientific libraries and robust data manipulation capabilities.</a:t>
            </a:r>
            <a:endParaRPr lang="en-US" sz="1300" b="0" i="0">
              <a:solidFill>
                <a:srgbClr val="1E293B"/>
              </a:solidFill>
              <a:latin typeface="Times New Roman"/>
              <a:cs typeface="Times New Roman"/>
            </a:endParaRPr>
          </a:p>
          <a:p>
            <a:pPr marL="0" indent="0" algn="l">
              <a:spcAft>
                <a:spcPts val="800"/>
              </a:spcAft>
              <a:buNone/>
            </a:pPr>
            <a:r>
              <a:rPr sz="1300" b="1" i="0" dirty="0">
                <a:solidFill>
                  <a:srgbClr val="1E3A5F"/>
                </a:solidFill>
                <a:latin typeface="Times New Roman"/>
                <a:cs typeface="Times New Roman"/>
              </a:rPr>
              <a:t>• Pandas: </a:t>
            </a:r>
            <a:r>
              <a:rPr sz="1300" b="0" i="0" dirty="0">
                <a:solidFill>
                  <a:srgbClr val="1E293B"/>
                </a:solidFill>
                <a:latin typeface="Times New Roman"/>
                <a:cs typeface="Times New Roman"/>
              </a:rPr>
              <a:t>Essential library for data ingestion, missing value imputation, multi-index aggregation, and seasonal summary generation.</a:t>
            </a:r>
          </a:p>
          <a:p>
            <a:pPr marL="0" indent="0" algn="l">
              <a:spcAft>
                <a:spcPts val="800"/>
              </a:spcAft>
              <a:buNone/>
            </a:pPr>
            <a:r>
              <a:rPr lang="en-US" sz="1300" b="1" dirty="0">
                <a:solidFill>
                  <a:srgbClr val="1E3A5F"/>
                </a:solidFill>
                <a:latin typeface="Times New Roman"/>
                <a:cs typeface="Times New Roman"/>
              </a:rPr>
              <a:t>•</a:t>
            </a:r>
            <a:r>
              <a:rPr sz="1300" b="1" i="0" dirty="0">
                <a:solidFill>
                  <a:srgbClr val="1E3A5F"/>
                </a:solidFill>
                <a:latin typeface="Times New Roman"/>
                <a:cs typeface="Times New Roman"/>
              </a:rPr>
              <a:t> NumPy: </a:t>
            </a:r>
            <a:r>
              <a:rPr sz="1300" b="0" i="0" dirty="0">
                <a:solidFill>
                  <a:srgbClr val="1E293B"/>
                </a:solidFill>
                <a:latin typeface="Times New Roman"/>
                <a:cs typeface="Times New Roman"/>
              </a:rPr>
              <a:t>High-performance vectorized mathematical calculations, metric transformations, and numerical operations.</a:t>
            </a:r>
          </a:p>
          <a:p>
            <a:pPr marL="0" indent="0" algn="l">
              <a:spcAft>
                <a:spcPts val="800"/>
              </a:spcAft>
              <a:buNone/>
            </a:pPr>
            <a:r>
              <a:rPr sz="1300" b="1" i="0" dirty="0">
                <a:solidFill>
                  <a:srgbClr val="1E3A5F"/>
                </a:solidFill>
                <a:latin typeface="Times New Roman"/>
                <a:cs typeface="Times New Roman"/>
              </a:rPr>
              <a:t>• Matplotlib &amp; Seaborn: </a:t>
            </a:r>
            <a:r>
              <a:rPr sz="1300" b="0" i="0" dirty="0">
                <a:solidFill>
                  <a:srgbClr val="1E293B"/>
                </a:solidFill>
                <a:latin typeface="Times New Roman"/>
                <a:cs typeface="Times New Roman"/>
              </a:rPr>
              <a:t>Comprehensive plotting engines for univariate distributions, bivariate regressions, boxplots, and correlation heatmaps.</a:t>
            </a:r>
          </a:p>
          <a:p>
            <a:pPr marL="0" indent="0" algn="l">
              <a:spcAft>
                <a:spcPts val="800"/>
              </a:spcAft>
              <a:buNone/>
            </a:pPr>
            <a:r>
              <a:rPr sz="1300" b="1" i="0" dirty="0">
                <a:solidFill>
                  <a:srgbClr val="1E3A5F"/>
                </a:solidFill>
                <a:latin typeface="Times New Roman"/>
                <a:cs typeface="Times New Roman"/>
              </a:rPr>
              <a:t>• SciPy (</a:t>
            </a:r>
            <a:r>
              <a:rPr sz="1300" b="1" i="0" dirty="0" err="1">
                <a:solidFill>
                  <a:srgbClr val="1E3A5F"/>
                </a:solidFill>
                <a:latin typeface="Times New Roman"/>
                <a:cs typeface="Times New Roman"/>
              </a:rPr>
              <a:t>scipy.stats</a:t>
            </a:r>
            <a:r>
              <a:rPr sz="1300" b="1" i="0" dirty="0">
                <a:solidFill>
                  <a:srgbClr val="1E3A5F"/>
                </a:solidFill>
                <a:latin typeface="Times New Roman"/>
                <a:cs typeface="Times New Roman"/>
              </a:rPr>
              <a:t>): </a:t>
            </a:r>
            <a:r>
              <a:rPr sz="1300" b="0" i="0" dirty="0">
                <a:solidFill>
                  <a:srgbClr val="1E293B"/>
                </a:solidFill>
                <a:latin typeface="Times New Roman"/>
                <a:cs typeface="Times New Roman"/>
              </a:rPr>
              <a:t>Scientific computing library utilized for non-parametric Kruskal-Wallis hypothesis testing across seasons.</a:t>
            </a:r>
          </a:p>
          <a:p>
            <a:pPr marL="0" indent="0" algn="l">
              <a:spcAft>
                <a:spcPts val="800"/>
              </a:spcAft>
              <a:buNone/>
            </a:pPr>
            <a:r>
              <a:rPr sz="1300" b="1" i="0" dirty="0">
                <a:solidFill>
                  <a:srgbClr val="1E3A5F"/>
                </a:solidFill>
                <a:latin typeface="Times New Roman"/>
                <a:cs typeface="Times New Roman"/>
              </a:rPr>
              <a:t>• CSV Dataset: </a:t>
            </a:r>
            <a:r>
              <a:rPr sz="1300" b="0" i="0" dirty="0">
                <a:solidFill>
                  <a:srgbClr val="1E293B"/>
                </a:solidFill>
                <a:latin typeface="Times New Roman"/>
                <a:cs typeface="Times New Roman"/>
              </a:rPr>
              <a:t>Comprehensive agricultural records comprising 4,000 observations across 28 environmental, operational, and financial features.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wrap="square">
            <a:normAutofit/>
          </a:bodyPr>
          <a:lstStyle/>
          <a:p>
            <a:pPr algn="l"/>
            <a:r>
              <a:rPr sz="2800" b="1" i="0" dirty="0">
                <a:solidFill>
                  <a:srgbClr val="1E3A5F"/>
                </a:solidFill>
                <a:latin typeface="Times New Roman"/>
                <a:cs typeface="Times New Roman"/>
              </a:rPr>
              <a:t>Technology Used</a:t>
            </a:r>
            <a:endParaRPr lang="en-US" sz="2800" b="1" i="0" dirty="0">
              <a:solidFill>
                <a:srgbClr val="1E3A5F"/>
              </a:solidFill>
              <a:latin typeface="Times New Roman"/>
              <a:cs typeface="Times New Roman"/>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4599588" cy="872750"/>
          </a:xfrm>
        </p:spPr>
        <p:txBody>
          <a:bodyPr wrap="square">
            <a:noAutofit/>
          </a:bodyPr>
          <a:lstStyle/>
          <a:p>
            <a:pPr algn="l"/>
            <a:r>
              <a:rPr sz="2800" b="1" i="0" dirty="0">
                <a:solidFill>
                  <a:srgbClr val="1E3A5F"/>
                </a:solidFill>
                <a:latin typeface="Times New Roman"/>
                <a:cs typeface="Times New Roman"/>
              </a:rPr>
              <a:t>Data Quality and Exploratory Analysis</a:t>
            </a:r>
            <a:endParaRPr lang="en-IN" sz="2800" dirty="0">
              <a:latin typeface="Times New Roman"/>
              <a:cs typeface="Times New Roman"/>
            </a:endParaRPr>
          </a:p>
        </p:txBody>
      </p:sp>
      <p:pic>
        <p:nvPicPr>
          <p:cNvPr id="24" name="Picture 23" descr="slide6_preview_table.png"/>
          <p:cNvPicPr>
            <a:picLocks noChangeAspect="1"/>
          </p:cNvPicPr>
          <p:nvPr/>
        </p:nvPicPr>
        <p:blipFill>
          <a:blip r:embed="rId3"/>
          <a:stretch>
            <a:fillRect/>
          </a:stretch>
        </p:blipFill>
        <p:spPr>
          <a:xfrm>
            <a:off x="548640" y="1234440"/>
            <a:ext cx="6217920" cy="1691640"/>
          </a:xfrm>
          <a:prstGeom prst="rect">
            <a:avLst/>
          </a:prstGeom>
        </p:spPr>
      </p:pic>
      <p:pic>
        <p:nvPicPr>
          <p:cNvPr id="25" name="Picture 24" descr="slide6_missing_plot.png"/>
          <p:cNvPicPr>
            <a:picLocks noChangeAspect="1"/>
          </p:cNvPicPr>
          <p:nvPr/>
        </p:nvPicPr>
        <p:blipFill>
          <a:blip r:embed="rId4"/>
          <a:stretch>
            <a:fillRect/>
          </a:stretch>
        </p:blipFill>
        <p:spPr>
          <a:xfrm>
            <a:off x="6949440" y="1234440"/>
            <a:ext cx="4663440" cy="1691640"/>
          </a:xfrm>
          <a:prstGeom prst="rect">
            <a:avLst/>
          </a:prstGeom>
        </p:spPr>
      </p:pic>
      <p:pic>
        <p:nvPicPr>
          <p:cNvPr id="26" name="Picture 25" descr="slide6_univariate_plot.png"/>
          <p:cNvPicPr>
            <a:picLocks noChangeAspect="1"/>
          </p:cNvPicPr>
          <p:nvPr/>
        </p:nvPicPr>
        <p:blipFill>
          <a:blip r:embed="rId5"/>
          <a:stretch>
            <a:fillRect/>
          </a:stretch>
        </p:blipFill>
        <p:spPr>
          <a:xfrm>
            <a:off x="548640" y="3017520"/>
            <a:ext cx="11064240" cy="3063240"/>
          </a:xfrm>
          <a:prstGeom prst="rect">
            <a:avLst/>
          </a:prstGeom>
        </p:spPr>
      </p:pic>
      <p:sp>
        <p:nvSpPr>
          <p:cNvPr id="27" name="TextBox 26"/>
          <p:cNvSpPr txBox="1"/>
          <p:nvPr/>
        </p:nvSpPr>
        <p:spPr>
          <a:xfrm>
            <a:off x="548640" y="6155206"/>
            <a:ext cx="11068218" cy="400110"/>
          </a:xfrm>
          <a:prstGeom prst="rect">
            <a:avLst/>
          </a:prstGeom>
          <a:noFill/>
        </p:spPr>
        <p:txBody>
          <a:bodyPr wrap="square" lIns="91440" tIns="45720" rIns="91440" bIns="45720" anchor="t">
            <a:spAutoFit/>
          </a:bodyPr>
          <a:lstStyle/>
          <a:p>
            <a:r>
              <a:rPr sz="1000" b="1" i="1" dirty="0">
                <a:latin typeface="Times New Roman"/>
                <a:cs typeface="Times New Roman"/>
              </a:rPr>
              <a:t>Caption: The dataset was reviewed before analysis. Duplicate records were removed (0 duplicates found), missing numeric values were handled using median imputation where required (Rainfall: 48, Soil Moisture: 40, Yield: 32), and categorical missing values were handled using the most frequent value where required.</a:t>
            </a:r>
            <a:endParaRPr lang="en-US" sz="1000" b="1" i="1">
              <a:latin typeface="Times New Roman"/>
              <a:cs typeface="Times New Roman"/>
            </a:endParaRP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8200820" cy="872750"/>
          </a:xfrm>
        </p:spPr>
        <p:txBody>
          <a:bodyPr wrap="square">
            <a:noAutofit/>
          </a:bodyPr>
          <a:lstStyle/>
          <a:p>
            <a:pPr algn="l"/>
            <a:r>
              <a:rPr sz="2800" b="1" i="0" dirty="0">
                <a:solidFill>
                  <a:srgbClr val="1E3A5F"/>
                </a:solidFill>
                <a:latin typeface="Times New Roman"/>
                <a:cs typeface="Times New Roman"/>
              </a:rPr>
              <a:t>Seasonal Comparison of Agricultural Performance</a:t>
            </a:r>
            <a:endParaRPr lang="en-IN" sz="2800" dirty="0">
              <a:latin typeface="Times New Roman"/>
              <a:cs typeface="Times New Roman"/>
            </a:endParaRPr>
          </a:p>
        </p:txBody>
      </p:sp>
      <p:pic>
        <p:nvPicPr>
          <p:cNvPr id="31" name="Picture 30" descr="slide7_season_table.png"/>
          <p:cNvPicPr>
            <a:picLocks noChangeAspect="1"/>
          </p:cNvPicPr>
          <p:nvPr/>
        </p:nvPicPr>
        <p:blipFill>
          <a:blip r:embed="rId3"/>
          <a:stretch>
            <a:fillRect/>
          </a:stretch>
        </p:blipFill>
        <p:spPr>
          <a:xfrm>
            <a:off x="548640" y="1234440"/>
            <a:ext cx="6949440" cy="1691640"/>
          </a:xfrm>
          <a:prstGeom prst="rect">
            <a:avLst/>
          </a:prstGeom>
        </p:spPr>
      </p:pic>
      <p:pic>
        <p:nvPicPr>
          <p:cNvPr id="32" name="Picture 31" descr="slide7_kw_card_refined.png"/>
          <p:cNvPicPr>
            <a:picLocks noChangeAspect="1"/>
          </p:cNvPicPr>
          <p:nvPr/>
        </p:nvPicPr>
        <p:blipFill>
          <a:blip r:embed="rId4"/>
          <a:stretch>
            <a:fillRect/>
          </a:stretch>
        </p:blipFill>
        <p:spPr>
          <a:xfrm>
            <a:off x="7680960" y="1234440"/>
            <a:ext cx="3931920" cy="1691640"/>
          </a:xfrm>
          <a:prstGeom prst="rect">
            <a:avLst/>
          </a:prstGeom>
        </p:spPr>
      </p:pic>
      <p:pic>
        <p:nvPicPr>
          <p:cNvPr id="33" name="Picture 32" descr="slide7_boxplots.png"/>
          <p:cNvPicPr>
            <a:picLocks noChangeAspect="1"/>
          </p:cNvPicPr>
          <p:nvPr/>
        </p:nvPicPr>
        <p:blipFill>
          <a:blip r:embed="rId5"/>
          <a:stretch>
            <a:fillRect/>
          </a:stretch>
        </p:blipFill>
        <p:spPr>
          <a:xfrm>
            <a:off x="548640" y="3017520"/>
            <a:ext cx="11064240" cy="2788920"/>
          </a:xfrm>
          <a:prstGeom prst="rect">
            <a:avLst/>
          </a:prstGeom>
        </p:spPr>
      </p:pic>
      <p:sp>
        <p:nvSpPr>
          <p:cNvPr id="34" name="TextBox 33"/>
          <p:cNvSpPr txBox="1"/>
          <p:nvPr/>
        </p:nvSpPr>
        <p:spPr>
          <a:xfrm>
            <a:off x="548640" y="5964394"/>
            <a:ext cx="10657145" cy="707886"/>
          </a:xfrm>
          <a:prstGeom prst="rect">
            <a:avLst/>
          </a:prstGeom>
          <a:noFill/>
        </p:spPr>
        <p:txBody>
          <a:bodyPr wrap="square" lIns="91440" tIns="45720" rIns="91440" bIns="45720" anchor="t">
            <a:spAutoFit/>
          </a:bodyPr>
          <a:lstStyle/>
          <a:p>
            <a:r>
              <a:rPr sz="1000" b="0" i="0" dirty="0">
                <a:solidFill>
                  <a:srgbClr val="1E293B"/>
                </a:solidFill>
                <a:latin typeface="Times New Roman"/>
                <a:cs typeface="Times New Roman"/>
              </a:rPr>
              <a:t>The project compares average yield, total production, profit, water use, water efficiency, and profit margin across seasons. The notebook also applies Kruskal-Wallis tests to examine whether observed yield, profit, and water-use distributions differ across seasons.</a:t>
            </a:r>
            <a:endParaRPr lang="en-US" sz="1000" b="0" i="0" dirty="0">
              <a:solidFill>
                <a:srgbClr val="1E293B"/>
              </a:solidFill>
              <a:latin typeface="Times New Roman"/>
              <a:cs typeface="Times New Roman"/>
            </a:endParaRPr>
          </a:p>
          <a:p>
            <a:r>
              <a:rPr sz="1000" b="1" i="0" dirty="0">
                <a:solidFill>
                  <a:srgbClr val="1E3A5F"/>
                </a:solidFill>
                <a:latin typeface="Times New Roman"/>
                <a:cs typeface="Times New Roman"/>
              </a:rPr>
              <a:t>Key Verified Findings:  • Best-Yield Season: Kharif (5.63 t/ha; KW p=1.20e-15)  • Highest-Profit Season: Kharif (Avg ₹178,915; KW p=7.36e-23)  • Highest-Water-Use Season: Zaid (Avg 6,420 m³; KW p=0.0506). Observable differences confirm distinct seasonal performance dynamics.</a:t>
            </a:r>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255767"/>
            <a:ext cx="10058847" cy="830997"/>
          </a:xfrm>
        </p:spPr>
        <p:txBody>
          <a:bodyPr wrap="square">
            <a:normAutofit/>
          </a:bodyPr>
          <a:lstStyle/>
          <a:p>
            <a:pPr algn="l"/>
            <a:r>
              <a:rPr sz="2800" b="1" i="0" dirty="0">
                <a:solidFill>
                  <a:srgbClr val="1E3A5F"/>
                </a:solidFill>
                <a:latin typeface="Times New Roman"/>
                <a:cs typeface="Times New Roman"/>
              </a:rPr>
              <a:t>Environmental, Operational, and Economic Relationships</a:t>
            </a:r>
            <a:endParaRPr lang="en-IN" sz="2800" dirty="0">
              <a:latin typeface="Times New Roman"/>
              <a:cs typeface="Times New Roman"/>
            </a:endParaRPr>
          </a:p>
        </p:txBody>
      </p:sp>
      <p:pic>
        <p:nvPicPr>
          <p:cNvPr id="31" name="Picture 30" descr="slide8_bivariate.png"/>
          <p:cNvPicPr>
            <a:picLocks noChangeAspect="1"/>
          </p:cNvPicPr>
          <p:nvPr/>
        </p:nvPicPr>
        <p:blipFill>
          <a:blip r:embed="rId3"/>
          <a:stretch>
            <a:fillRect/>
          </a:stretch>
        </p:blipFill>
        <p:spPr>
          <a:xfrm>
            <a:off x="548640" y="1234440"/>
            <a:ext cx="7132320" cy="2240280"/>
          </a:xfrm>
          <a:prstGeom prst="rect">
            <a:avLst/>
          </a:prstGeom>
        </p:spPr>
      </p:pic>
      <p:pic>
        <p:nvPicPr>
          <p:cNvPr id="32" name="Picture 31" descr="slide8_heatmap.png"/>
          <p:cNvPicPr>
            <a:picLocks noChangeAspect="1"/>
          </p:cNvPicPr>
          <p:nvPr/>
        </p:nvPicPr>
        <p:blipFill>
          <a:blip r:embed="rId4"/>
          <a:stretch>
            <a:fillRect/>
          </a:stretch>
        </p:blipFill>
        <p:spPr>
          <a:xfrm>
            <a:off x="7863840" y="1234440"/>
            <a:ext cx="3749039" cy="2240280"/>
          </a:xfrm>
          <a:prstGeom prst="rect">
            <a:avLst/>
          </a:prstGeom>
        </p:spPr>
      </p:pic>
      <p:pic>
        <p:nvPicPr>
          <p:cNvPr id="33" name="Picture 32" descr="slide8_crop_season.png"/>
          <p:cNvPicPr>
            <a:picLocks noChangeAspect="1"/>
          </p:cNvPicPr>
          <p:nvPr/>
        </p:nvPicPr>
        <p:blipFill>
          <a:blip r:embed="rId5"/>
          <a:stretch>
            <a:fillRect/>
          </a:stretch>
        </p:blipFill>
        <p:spPr>
          <a:xfrm>
            <a:off x="548640" y="3566160"/>
            <a:ext cx="5943600" cy="2423160"/>
          </a:xfrm>
          <a:prstGeom prst="rect">
            <a:avLst/>
          </a:prstGeom>
        </p:spPr>
      </p:pic>
      <p:pic>
        <p:nvPicPr>
          <p:cNvPr id="34" name="Picture 33" descr="slide8_pairplot.png"/>
          <p:cNvPicPr>
            <a:picLocks noChangeAspect="1"/>
          </p:cNvPicPr>
          <p:nvPr/>
        </p:nvPicPr>
        <p:blipFill>
          <a:blip r:embed="rId6"/>
          <a:stretch>
            <a:fillRect/>
          </a:stretch>
        </p:blipFill>
        <p:spPr>
          <a:xfrm>
            <a:off x="6675120" y="3566160"/>
            <a:ext cx="4937760" cy="2423160"/>
          </a:xfrm>
          <a:prstGeom prst="rect">
            <a:avLst/>
          </a:prstGeom>
        </p:spPr>
      </p:pic>
      <p:sp>
        <p:nvSpPr>
          <p:cNvPr id="35" name="TextBox 34"/>
          <p:cNvSpPr txBox="1"/>
          <p:nvPr/>
        </p:nvSpPr>
        <p:spPr>
          <a:xfrm>
            <a:off x="548640" y="6105519"/>
            <a:ext cx="11059480" cy="400110"/>
          </a:xfrm>
          <a:prstGeom prst="rect">
            <a:avLst/>
          </a:prstGeom>
          <a:noFill/>
        </p:spPr>
        <p:txBody>
          <a:bodyPr wrap="square" lIns="91440" tIns="45720" rIns="91440" bIns="45720" anchor="t">
            <a:spAutoFit/>
          </a:bodyPr>
          <a:lstStyle/>
          <a:p>
            <a:r>
              <a:rPr sz="1000" b="1" i="1" dirty="0">
                <a:latin typeface="Times New Roman"/>
                <a:cs typeface="Times New Roman"/>
              </a:rPr>
              <a:t>The analysis explores how environmental conditions, farm size, crop type, irrigation method, and seasonal conditions relate to yield, production, profit, and resource use. These relationships indicate observed associations and do not establish causation.</a:t>
            </a:r>
            <a:endParaRPr lang="en-US" sz="1000" b="1" i="1">
              <a:latin typeface="Times New Roman"/>
              <a:cs typeface="Times New Roman"/>
            </a:endParaRP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6227971" cy="862312"/>
          </a:xfrm>
        </p:spPr>
        <p:txBody>
          <a:bodyPr wrap="square">
            <a:normAutofit/>
          </a:bodyPr>
          <a:lstStyle/>
          <a:p>
            <a:pPr algn="l"/>
            <a:r>
              <a:rPr sz="2800" b="1" i="0" dirty="0">
                <a:solidFill>
                  <a:srgbClr val="1E3A5F"/>
                </a:solidFill>
                <a:latin typeface="Times New Roman"/>
                <a:cs typeface="Times New Roman"/>
              </a:rPr>
              <a:t>Risk, Irrigation, and Regional Insights</a:t>
            </a:r>
            <a:endParaRPr lang="en-IN" sz="2800" dirty="0">
              <a:latin typeface="Times New Roman"/>
              <a:cs typeface="Times New Roman"/>
            </a:endParaRPr>
          </a:p>
        </p:txBody>
      </p:sp>
      <p:pic>
        <p:nvPicPr>
          <p:cNvPr id="31" name="Picture 30" descr="slide9_risk_table_refined.png"/>
          <p:cNvPicPr>
            <a:picLocks noChangeAspect="1"/>
          </p:cNvPicPr>
          <p:nvPr/>
        </p:nvPicPr>
        <p:blipFill>
          <a:blip r:embed="rId3"/>
          <a:stretch>
            <a:fillRect/>
          </a:stretch>
        </p:blipFill>
        <p:spPr>
          <a:xfrm>
            <a:off x="548640" y="1234440"/>
            <a:ext cx="3931920" cy="1920240"/>
          </a:xfrm>
          <a:prstGeom prst="rect">
            <a:avLst/>
          </a:prstGeom>
        </p:spPr>
      </p:pic>
      <p:pic>
        <p:nvPicPr>
          <p:cNvPr id="32" name="Picture 31" descr="slide9_irrigation_plot.png"/>
          <p:cNvPicPr>
            <a:picLocks noChangeAspect="1"/>
          </p:cNvPicPr>
          <p:nvPr/>
        </p:nvPicPr>
        <p:blipFill>
          <a:blip r:embed="rId4"/>
          <a:stretch>
            <a:fillRect/>
          </a:stretch>
        </p:blipFill>
        <p:spPr>
          <a:xfrm>
            <a:off x="4663440" y="1234440"/>
            <a:ext cx="3840480" cy="1920240"/>
          </a:xfrm>
          <a:prstGeom prst="rect">
            <a:avLst/>
          </a:prstGeom>
        </p:spPr>
      </p:pic>
      <p:pic>
        <p:nvPicPr>
          <p:cNvPr id="33" name="Picture 32" descr="slide9_regional_table.png"/>
          <p:cNvPicPr>
            <a:picLocks noChangeAspect="1"/>
          </p:cNvPicPr>
          <p:nvPr/>
        </p:nvPicPr>
        <p:blipFill>
          <a:blip r:embed="rId5"/>
          <a:stretch>
            <a:fillRect/>
          </a:stretch>
        </p:blipFill>
        <p:spPr>
          <a:xfrm>
            <a:off x="8686800" y="1234440"/>
            <a:ext cx="2926080" cy="1920240"/>
          </a:xfrm>
          <a:prstGeom prst="rect">
            <a:avLst/>
          </a:prstGeom>
        </p:spPr>
      </p:pic>
      <p:sp>
        <p:nvSpPr>
          <p:cNvPr id="34" name="TextBox 33"/>
          <p:cNvSpPr txBox="1"/>
          <p:nvPr/>
        </p:nvSpPr>
        <p:spPr>
          <a:xfrm>
            <a:off x="548640" y="3291840"/>
            <a:ext cx="11064240" cy="2149306"/>
          </a:xfrm>
          <a:prstGeom prst="rect">
            <a:avLst/>
          </a:prstGeom>
          <a:noFill/>
        </p:spPr>
        <p:txBody>
          <a:bodyPr wrap="square" lIns="91440" tIns="45720" rIns="91440" bIns="45720" anchor="t">
            <a:spAutoFit/>
          </a:bodyPr>
          <a:lstStyle/>
          <a:p>
            <a:pPr>
              <a:spcAft>
                <a:spcPts val="400"/>
              </a:spcAft>
            </a:pPr>
            <a:r>
              <a:rPr sz="1300" b="1" i="0" dirty="0">
                <a:solidFill>
                  <a:srgbClr val="1E3A5F"/>
                </a:solidFill>
                <a:latin typeface="Times New Roman"/>
                <a:cs typeface="Times New Roman"/>
              </a:rPr>
              <a:t>Evidence-Based Recommendations:</a:t>
            </a:r>
            <a:endParaRPr lang="en-US" sz="1300" b="1" i="0">
              <a:solidFill>
                <a:srgbClr val="1E3A5F"/>
              </a:solidFill>
              <a:latin typeface="Times New Roman"/>
              <a:cs typeface="Times New Roman"/>
            </a:endParaRPr>
          </a:p>
          <a:p>
            <a:pPr algn="l">
              <a:spcAft>
                <a:spcPts val="400"/>
              </a:spcAft>
            </a:pPr>
            <a:r>
              <a:rPr sz="1300" b="1" i="0" dirty="0">
                <a:solidFill>
                  <a:srgbClr val="1E3A5F"/>
                </a:solidFill>
                <a:latin typeface="Times New Roman"/>
                <a:cs typeface="Times New Roman"/>
              </a:rPr>
              <a:t>• Investigate High Loss Rates: </a:t>
            </a:r>
            <a:r>
              <a:rPr sz="1300" b="0" i="0" dirty="0">
                <a:solidFill>
                  <a:srgbClr val="1E293B"/>
                </a:solidFill>
                <a:latin typeface="Times New Roman"/>
                <a:cs typeface="Times New Roman"/>
              </a:rPr>
              <a:t>Investigate the season with the highest observed loss rate (Zaid: 64.48% loss rate, Median profit: -₹62,144; Rabi: 51.14%) by reviewing crop mix, region, operational costs, and irrigation practices.</a:t>
            </a:r>
          </a:p>
          <a:p>
            <a:pPr algn="l">
              <a:spcAft>
                <a:spcPts val="400"/>
              </a:spcAft>
            </a:pPr>
            <a:r>
              <a:rPr sz="1300" b="1" i="0" dirty="0">
                <a:solidFill>
                  <a:srgbClr val="1E3A5F"/>
                </a:solidFill>
                <a:latin typeface="Times New Roman"/>
                <a:cs typeface="Times New Roman"/>
              </a:rPr>
              <a:t>• Benchmark Within Same Crop &amp; State: </a:t>
            </a:r>
            <a:r>
              <a:rPr sz="1300" b="0" i="0" dirty="0">
                <a:solidFill>
                  <a:srgbClr val="1E293B"/>
                </a:solidFill>
                <a:latin typeface="Times New Roman"/>
                <a:cs typeface="Times New Roman"/>
              </a:rPr>
              <a:t>Compare high-performing seasonal practices within the same crop and state before applying them elsewhere; avoid direct cross-season assumptions.</a:t>
            </a:r>
          </a:p>
          <a:p>
            <a:pPr algn="l">
              <a:spcAft>
                <a:spcPts val="400"/>
              </a:spcAft>
            </a:pPr>
            <a:r>
              <a:rPr sz="1300" b="1" i="0" dirty="0">
                <a:solidFill>
                  <a:srgbClr val="1E3A5F"/>
                </a:solidFill>
                <a:latin typeface="Times New Roman"/>
                <a:cs typeface="Times New Roman"/>
              </a:rPr>
              <a:t>• Targeted Water Management: </a:t>
            </a:r>
            <a:r>
              <a:rPr sz="1300" b="0" i="0" dirty="0">
                <a:solidFill>
                  <a:srgbClr val="1E293B"/>
                </a:solidFill>
                <a:latin typeface="Times New Roman"/>
                <a:cs typeface="Times New Roman"/>
              </a:rPr>
              <a:t>Review water management where water use is high (Zaid: 6,420 m³) and observed water efficiency is low (4.41 t/1000m³), concentrating on high-efficiency drip/sprinkler adoption.</a:t>
            </a:r>
          </a:p>
          <a:p>
            <a:pPr algn="l">
              <a:spcAft>
                <a:spcPts val="400"/>
              </a:spcAft>
            </a:pPr>
            <a:r>
              <a:rPr sz="1300" b="1" i="0" dirty="0">
                <a:solidFill>
                  <a:srgbClr val="1E3A5F"/>
                </a:solidFill>
                <a:latin typeface="Times New Roman"/>
                <a:cs typeface="Times New Roman"/>
              </a:rPr>
              <a:t>• Data Quality Verification: </a:t>
            </a:r>
            <a:r>
              <a:rPr sz="1300" b="0" i="0" dirty="0">
                <a:solidFill>
                  <a:srgbClr val="1E293B"/>
                </a:solidFill>
                <a:latin typeface="Times New Roman"/>
                <a:cs typeface="Times New Roman"/>
              </a:rPr>
              <a:t>Validate IQR-flagged records against source data before removing observations from production models.</a:t>
            </a:r>
          </a:p>
          <a:p>
            <a:pPr algn="l">
              <a:spcAft>
                <a:spcPts val="400"/>
              </a:spcAft>
            </a:pPr>
            <a:r>
              <a:rPr sz="1300" b="1" i="0" dirty="0">
                <a:solidFill>
                  <a:srgbClr val="1E3A5F"/>
                </a:solidFill>
                <a:latin typeface="Times New Roman"/>
                <a:cs typeface="Times New Roman"/>
              </a:rPr>
              <a:t>• Context-Specific Follow-Up: </a:t>
            </a:r>
            <a:r>
              <a:rPr sz="1300" b="0" i="0" dirty="0">
                <a:solidFill>
                  <a:srgbClr val="1E293B"/>
                </a:solidFill>
                <a:latin typeface="Times New Roman"/>
                <a:cs typeface="Times New Roman"/>
              </a:rPr>
              <a:t>Use crop-, region-, and irrigation-specific follow-up rather than broad universal assumptions across diverse agricultural zones.</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wrap="square">
            <a:normAutofit/>
          </a:bodyPr>
          <a:lstStyle/>
          <a:p>
            <a:pPr algn="l"/>
            <a:r>
              <a:rPr sz="2800" b="1" i="0" dirty="0">
                <a:solidFill>
                  <a:srgbClr val="1E3A5F"/>
                </a:solidFill>
                <a:latin typeface="Times New Roman"/>
                <a:cs typeface="Times New Roman"/>
              </a:rPr>
              <a:t>Conclusion</a:t>
            </a:r>
            <a:endParaRPr lang="en-IN" sz="2800" dirty="0">
              <a:latin typeface="Times New Roman"/>
              <a:cs typeface="Times New Roman"/>
            </a:endParaRPr>
          </a:p>
        </p:txBody>
      </p:sp>
      <p:sp>
        <p:nvSpPr>
          <p:cNvPr id="31" name="TextBox 30"/>
          <p:cNvSpPr txBox="1"/>
          <p:nvPr/>
        </p:nvSpPr>
        <p:spPr>
          <a:xfrm>
            <a:off x="679328" y="2021701"/>
            <a:ext cx="10058400" cy="1985159"/>
          </a:xfrm>
          <a:prstGeom prst="rect">
            <a:avLst/>
          </a:prstGeom>
          <a:noFill/>
        </p:spPr>
        <p:txBody>
          <a:bodyPr wrap="square" lIns="91440" tIns="45720" rIns="91440" bIns="45720" anchor="t">
            <a:spAutoFit/>
          </a:bodyPr>
          <a:lstStyle/>
          <a:p>
            <a:pPr>
              <a:spcAft>
                <a:spcPts val="1400"/>
              </a:spcAft>
            </a:pPr>
            <a:r>
              <a:rPr sz="1300" b="1" i="0" dirty="0">
                <a:solidFill>
                  <a:srgbClr val="1E293B"/>
                </a:solidFill>
                <a:latin typeface="Times New Roman"/>
                <a:cs typeface="Times New Roman"/>
              </a:rPr>
              <a:t>The analysis identifies measurable seasonal differences in agricultural yield, profitability, and resource use across Kharif, Rabi, and Zaid seasons.</a:t>
            </a:r>
            <a:endParaRPr lang="en-US" sz="1300" b="1" i="0" dirty="0">
              <a:solidFill>
                <a:srgbClr val="1E293B"/>
              </a:solidFill>
              <a:latin typeface="Times New Roman"/>
              <a:cs typeface="Times New Roman"/>
            </a:endParaRPr>
          </a:p>
          <a:p>
            <a:pPr>
              <a:spcAft>
                <a:spcPts val="1600"/>
              </a:spcAft>
            </a:pPr>
            <a:r>
              <a:rPr sz="1300" b="0" i="0" dirty="0">
                <a:solidFill>
                  <a:srgbClr val="1E293B"/>
                </a:solidFill>
                <a:latin typeface="Times New Roman"/>
                <a:cs typeface="Times New Roman"/>
              </a:rPr>
              <a:t>Seasonal summaries, visual comparisons, and statistical tests help identify areas for targeted follow-up. The findings support better agricultural planning through crop-specific, region-specific, and irrigation-specific analysis.</a:t>
            </a:r>
          </a:p>
          <a:p>
            <a:pPr>
              <a:spcAft>
                <a:spcPts val="600"/>
              </a:spcAft>
            </a:pPr>
            <a:r>
              <a:rPr sz="1300" b="1" i="0" dirty="0">
                <a:solidFill>
                  <a:srgbClr val="DC2626"/>
                </a:solidFill>
                <a:latin typeface="Times New Roman"/>
                <a:cs typeface="Times New Roman"/>
              </a:rPr>
              <a:t>Limitation:</a:t>
            </a:r>
          </a:p>
          <a:p>
            <a:r>
              <a:rPr sz="1300" b="0" i="1" dirty="0">
                <a:solidFill>
                  <a:srgbClr val="1E293B"/>
                </a:solidFill>
                <a:latin typeface="Times New Roman"/>
                <a:cs typeface="Times New Roman"/>
              </a:rPr>
              <a:t>This is observational analysis. The results show patterns and associations in the available dataset, but they do not prove that season alone caused the observed differences.</a:t>
            </a:r>
          </a:p>
        </p:txBody>
      </p:sp>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wrap="square">
            <a:normAutofit/>
          </a:bodyPr>
          <a:lstStyle/>
          <a:p>
            <a:pPr algn="l"/>
            <a:r>
              <a:rPr sz="2800" b="1" i="0" dirty="0">
                <a:solidFill>
                  <a:srgbClr val="1E3A5F"/>
                </a:solidFill>
                <a:latin typeface="Times New Roman"/>
                <a:cs typeface="Times New Roman"/>
              </a:rPr>
              <a:t>Future Scope</a:t>
            </a:r>
            <a:endParaRPr lang="en-US" sz="2800" b="1" i="0">
              <a:solidFill>
                <a:srgbClr val="1E3A5F"/>
              </a:solidFill>
              <a:latin typeface="Times New Roman"/>
              <a:cs typeface="Times New Roman"/>
            </a:endParaRPr>
          </a:p>
        </p:txBody>
      </p:sp>
      <p:sp>
        <p:nvSpPr>
          <p:cNvPr id="24" name="TextBox 23"/>
          <p:cNvSpPr txBox="1"/>
          <p:nvPr/>
        </p:nvSpPr>
        <p:spPr>
          <a:xfrm>
            <a:off x="679328" y="2032139"/>
            <a:ext cx="10241280" cy="2734082"/>
          </a:xfrm>
          <a:prstGeom prst="rect">
            <a:avLst/>
          </a:prstGeom>
          <a:noFill/>
        </p:spPr>
        <p:txBody>
          <a:bodyPr wrap="square" lIns="91440" tIns="45720" rIns="91440" bIns="45720" anchor="t">
            <a:spAutoFit/>
          </a:bodyPr>
          <a:lstStyle/>
          <a:p>
            <a:pPr algn="l">
              <a:spcAft>
                <a:spcPts val="1000"/>
              </a:spcAft>
            </a:pPr>
            <a:r>
              <a:rPr sz="1300" b="1" i="0" dirty="0">
                <a:solidFill>
                  <a:srgbClr val="1E3A5F"/>
                </a:solidFill>
                <a:latin typeface="Times New Roman"/>
                <a:cs typeface="Times New Roman"/>
              </a:rPr>
              <a:t>• Predictive Modeling: </a:t>
            </a:r>
            <a:r>
              <a:rPr sz="1300" b="0" i="0" dirty="0">
                <a:solidFill>
                  <a:srgbClr val="1E293B"/>
                </a:solidFill>
                <a:latin typeface="Times New Roman"/>
                <a:cs typeface="Times New Roman"/>
              </a:rPr>
              <a:t>Build machine learning models for agricultural yield and profit forecasting using gradient boosting and ensemble techniques.</a:t>
            </a:r>
            <a:endParaRPr lang="en-US" sz="1300" b="0" i="0" dirty="0">
              <a:solidFill>
                <a:srgbClr val="1E293B"/>
              </a:solidFill>
              <a:latin typeface="Times New Roman"/>
              <a:cs typeface="Times New Roman"/>
            </a:endParaRPr>
          </a:p>
          <a:p>
            <a:pPr algn="l">
              <a:spcAft>
                <a:spcPts val="1000"/>
              </a:spcAft>
            </a:pPr>
            <a:r>
              <a:rPr sz="1300" b="1" i="0" dirty="0">
                <a:solidFill>
                  <a:srgbClr val="1E3A5F"/>
                </a:solidFill>
                <a:latin typeface="Times New Roman"/>
                <a:cs typeface="Times New Roman"/>
              </a:rPr>
              <a:t>• Weather &amp; Market Integration: </a:t>
            </a:r>
            <a:r>
              <a:rPr sz="1300" b="0" i="0" dirty="0">
                <a:solidFill>
                  <a:srgbClr val="1E293B"/>
                </a:solidFill>
                <a:latin typeface="Times New Roman"/>
                <a:cs typeface="Times New Roman"/>
              </a:rPr>
              <a:t>Incorporate live weather forecast APIs and historical wholesale market-price data for dynamic price risk evaluation.</a:t>
            </a:r>
          </a:p>
          <a:p>
            <a:pPr algn="l">
              <a:spcAft>
                <a:spcPts val="1000"/>
              </a:spcAft>
            </a:pPr>
            <a:r>
              <a:rPr sz="1300" b="1" i="0" dirty="0">
                <a:solidFill>
                  <a:srgbClr val="1E3A5F"/>
                </a:solidFill>
                <a:latin typeface="Times New Roman"/>
                <a:cs typeface="Times New Roman"/>
              </a:rPr>
              <a:t>• Interactive Analytics Dashboards: </a:t>
            </a:r>
            <a:r>
              <a:rPr sz="1300" b="0" i="0" dirty="0">
                <a:solidFill>
                  <a:srgbClr val="1E293B"/>
                </a:solidFill>
                <a:latin typeface="Times New Roman"/>
                <a:cs typeface="Times New Roman"/>
              </a:rPr>
              <a:t>Create interactive district-level and state-level dashboards for real-time visualization, KPI tracking, and alert triggers.</a:t>
            </a:r>
          </a:p>
          <a:p>
            <a:pPr algn="l">
              <a:spcAft>
                <a:spcPts val="1000"/>
              </a:spcAft>
            </a:pPr>
            <a:r>
              <a:rPr sz="1300" b="1" i="0" dirty="0">
                <a:solidFill>
                  <a:srgbClr val="1E3A5F"/>
                </a:solidFill>
                <a:latin typeface="Times New Roman"/>
                <a:cs typeface="Times New Roman"/>
              </a:rPr>
              <a:t>• Multi-Year Longitudinal Analysis: </a:t>
            </a:r>
            <a:r>
              <a:rPr sz="1300" b="0" i="0" dirty="0">
                <a:solidFill>
                  <a:srgbClr val="1E293B"/>
                </a:solidFill>
                <a:latin typeface="Times New Roman"/>
                <a:cs typeface="Times New Roman"/>
              </a:rPr>
              <a:t>Study seasonal patterns across multiple consecutive years to separate climate trends from annual weather anomalies.</a:t>
            </a:r>
          </a:p>
          <a:p>
            <a:pPr algn="l">
              <a:spcAft>
                <a:spcPts val="1000"/>
              </a:spcAft>
            </a:pPr>
            <a:r>
              <a:rPr sz="1300" b="1" i="0" dirty="0">
                <a:solidFill>
                  <a:srgbClr val="1E3A5F"/>
                </a:solidFill>
                <a:latin typeface="Times New Roman"/>
                <a:cs typeface="Times New Roman"/>
              </a:rPr>
              <a:t>• Crop-Specific Irrigation Optimization: </a:t>
            </a:r>
            <a:r>
              <a:rPr sz="1300" b="0" i="0" dirty="0">
                <a:solidFill>
                  <a:srgbClr val="1E293B"/>
                </a:solidFill>
                <a:latin typeface="Times New Roman"/>
                <a:cs typeface="Times New Roman"/>
              </a:rPr>
              <a:t>Evaluate granular crop-specific irrigation recommendations to maximize water productivity and mitigate water stress.</a:t>
            </a:r>
          </a:p>
          <a:p>
            <a:pPr algn="l">
              <a:spcAft>
                <a:spcPts val="1000"/>
              </a:spcAft>
            </a:pPr>
            <a:r>
              <a:rPr sz="1300" b="1" i="0" dirty="0">
                <a:solidFill>
                  <a:srgbClr val="1E3A5F"/>
                </a:solidFill>
                <a:latin typeface="Times New Roman"/>
                <a:cs typeface="Times New Roman"/>
              </a:rPr>
              <a:t>• Field-Level Operational Validation: </a:t>
            </a:r>
            <a:r>
              <a:rPr sz="1300" b="0" i="0" dirty="0">
                <a:solidFill>
                  <a:srgbClr val="1E293B"/>
                </a:solidFill>
                <a:latin typeface="Times New Roman"/>
                <a:cs typeface="Times New Roman"/>
              </a:rPr>
              <a:t>Validate data-driven findings using precision agricultural sensors and field-level trial data from agricultural research stations.</a:t>
            </a:r>
          </a:p>
        </p:txBody>
      </p:sp>
    </p:spTree>
    <p:extLst>
      <p:ext uri="{BB962C8B-B14F-4D97-AF65-F5344CB8AC3E}">
        <p14:creationId xmlns:p14="http://schemas.microsoft.com/office/powerpoint/2010/main" val="776828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wrap="square">
            <a:normAutofit/>
          </a:bodyPr>
          <a:lstStyle/>
          <a:p>
            <a:pPr algn="l"/>
            <a:r>
              <a:rPr sz="2800" b="1" i="0" dirty="0">
                <a:solidFill>
                  <a:srgbClr val="1E3A5F"/>
                </a:solidFill>
                <a:latin typeface="Times New Roman"/>
                <a:cs typeface="Times New Roman"/>
              </a:rPr>
              <a:t>Project </a:t>
            </a:r>
            <a:r>
              <a:rPr lang="en-US" sz="2800" dirty="0">
                <a:solidFill>
                  <a:srgbClr val="1E3A5F"/>
                </a:solidFill>
                <a:latin typeface="Times New Roman"/>
                <a:cs typeface="Times New Roman"/>
              </a:rPr>
              <a:t>Repository</a:t>
            </a:r>
            <a:endParaRPr lang="en-US" sz="2800" b="1" i="0" dirty="0">
              <a:solidFill>
                <a:srgbClr val="1E3A5F"/>
              </a:solidFill>
              <a:latin typeface="Times New Roman"/>
              <a:cs typeface="Times New Roman"/>
            </a:endParaRPr>
          </a:p>
        </p:txBody>
      </p:sp>
      <p:sp>
        <p:nvSpPr>
          <p:cNvPr id="3" name="TextBox 2">
            <a:extLst>
              <a:ext uri="{FF2B5EF4-FFF2-40B4-BE49-F238E27FC236}">
                <a16:creationId xmlns:a16="http://schemas.microsoft.com/office/drawing/2014/main" id="{5F0B37E4-66B1-8633-7266-68B321742757}"/>
              </a:ext>
            </a:extLst>
          </p:cNvPr>
          <p:cNvSpPr txBox="1"/>
          <p:nvPr/>
        </p:nvSpPr>
        <p:spPr>
          <a:xfrm>
            <a:off x="731520" y="1463040"/>
            <a:ext cx="10515600" cy="292388"/>
          </a:xfrm>
          <a:prstGeom prst="rect">
            <a:avLst/>
          </a:prstGeom>
          <a:noFill/>
        </p:spPr>
        <p:txBody>
          <a:bodyPr wrap="square" lIns="91440" tIns="45720" rIns="91440" bIns="45720" anchor="t">
            <a:spAutoFit/>
          </a:bodyPr>
          <a:lstStyle/>
          <a:p>
            <a:r>
              <a:rPr lang="en-US" sz="1300" i="0" dirty="0">
                <a:solidFill>
                  <a:srgbClr val="2563EB"/>
                </a:solidFill>
                <a:latin typeface="Times New Roman"/>
                <a:ea typeface="+mn-lt"/>
                <a:cs typeface="Times New Roman"/>
              </a:rPr>
              <a:t>https://github.com/</a:t>
            </a:r>
            <a:r>
              <a:rPr lang="en-US" sz="1300" dirty="0">
                <a:solidFill>
                  <a:srgbClr val="2563EB"/>
                </a:solidFill>
                <a:latin typeface="Times New Roman"/>
                <a:ea typeface="+mn-lt"/>
                <a:cs typeface="Times New Roman"/>
              </a:rPr>
              <a:t>yjawahar/Jawahar--Seasonal-Agriculture-Performance-Analysis</a:t>
            </a:r>
            <a:r>
              <a:rPr lang="en-US" sz="1300" i="0" dirty="0">
                <a:solidFill>
                  <a:srgbClr val="2563EB"/>
                </a:solidFill>
                <a:latin typeface="Times New Roman"/>
                <a:ea typeface="+mn-lt"/>
                <a:cs typeface="Times New Roman"/>
              </a:rPr>
              <a:t>.git</a:t>
            </a:r>
            <a:endParaRPr lang="en-US" sz="1300">
              <a:latin typeface="Times New Roman"/>
              <a:ea typeface="+mn-lt"/>
              <a:cs typeface="Times New Roman"/>
            </a:endParaRPr>
          </a:p>
        </p:txBody>
      </p:sp>
      <p:sp>
        <p:nvSpPr>
          <p:cNvPr id="25" name="TextBox 24"/>
          <p:cNvSpPr txBox="1"/>
          <p:nvPr/>
        </p:nvSpPr>
        <p:spPr>
          <a:xfrm>
            <a:off x="3804335" y="5623560"/>
            <a:ext cx="4552849" cy="246221"/>
          </a:xfrm>
          <a:prstGeom prst="rect">
            <a:avLst/>
          </a:prstGeom>
          <a:noFill/>
        </p:spPr>
        <p:txBody>
          <a:bodyPr wrap="none" lIns="91440" tIns="45720" rIns="91440" bIns="45720" anchor="t">
            <a:spAutoFit/>
          </a:bodyPr>
          <a:lstStyle/>
          <a:p>
            <a:pPr algn="ctr"/>
            <a:r>
              <a:rPr sz="1000" b="0" i="1" dirty="0">
                <a:solidFill>
                  <a:srgbClr val="64748B"/>
                </a:solidFill>
                <a:latin typeface="Times New Roman"/>
                <a:cs typeface="Times New Roman"/>
              </a:rPr>
              <a:t>Scan the QR code to access the GitHub repository, </a:t>
            </a:r>
            <a:r>
              <a:rPr sz="1000" b="0" i="1" dirty="0" err="1">
                <a:solidFill>
                  <a:srgbClr val="64748B"/>
                </a:solidFill>
                <a:latin typeface="Times New Roman"/>
                <a:cs typeface="Times New Roman"/>
              </a:rPr>
              <a:t>Colab</a:t>
            </a:r>
            <a:r>
              <a:rPr sz="1000" b="0" i="1" dirty="0">
                <a:solidFill>
                  <a:srgbClr val="64748B"/>
                </a:solidFill>
                <a:latin typeface="Times New Roman"/>
                <a:cs typeface="Times New Roman"/>
              </a:rPr>
              <a:t> notebook, and dataset files</a:t>
            </a:r>
            <a:endParaRPr lang="en-US" sz="1000" b="0" i="1" dirty="0">
              <a:solidFill>
                <a:srgbClr val="64748B"/>
              </a:solidFill>
              <a:latin typeface="Times New Roman"/>
              <a:cs typeface="Times New Roman"/>
            </a:endParaRPr>
          </a:p>
        </p:txBody>
      </p:sp>
      <p:pic>
        <p:nvPicPr>
          <p:cNvPr id="2" name="Picture 1">
            <a:extLst>
              <a:ext uri="{FF2B5EF4-FFF2-40B4-BE49-F238E27FC236}">
                <a16:creationId xmlns:a16="http://schemas.microsoft.com/office/drawing/2014/main" id="{745E5EDE-9057-7CBD-42CE-A2A94B99131A}"/>
              </a:ext>
            </a:extLst>
          </p:cNvPr>
          <p:cNvPicPr>
            <a:picLocks noChangeAspect="1"/>
          </p:cNvPicPr>
          <p:nvPr/>
        </p:nvPicPr>
        <p:blipFill>
          <a:blip r:embed="rId3"/>
          <a:stretch>
            <a:fillRect/>
          </a:stretch>
        </p:blipFill>
        <p:spPr>
          <a:xfrm>
            <a:off x="4326699" y="2098109"/>
            <a:ext cx="3538603" cy="3528165"/>
          </a:xfrm>
          <a:prstGeom prst="rect">
            <a:avLst/>
          </a:prstGeom>
        </p:spPr>
      </p:pic>
    </p:spTree>
    <p:extLst>
      <p:ext uri="{BB962C8B-B14F-4D97-AF65-F5344CB8AC3E}">
        <p14:creationId xmlns:p14="http://schemas.microsoft.com/office/powerpoint/2010/main" val="3863610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a:bodyPr>
          <a:lstStyle/>
          <a:p>
            <a:r>
              <a:rPr sz="2800" b="1" i="0" dirty="0">
                <a:solidFill>
                  <a:srgbClr val="1E3A5F"/>
                </a:solidFill>
                <a:latin typeface="Times New Roman"/>
                <a:cs typeface="Times New Roman"/>
              </a:rPr>
              <a:t>VOIS Course Completion Certificate</a:t>
            </a:r>
            <a:endParaRPr lang="en-US" sz="2800" b="1" i="0" dirty="0">
              <a:solidFill>
                <a:srgbClr val="1E3A5F"/>
              </a:solidFill>
              <a:latin typeface="Times New Roman"/>
              <a:cs typeface="Times New Roman"/>
            </a:endParaRPr>
          </a:p>
          <a:p>
            <a:r>
              <a:rPr sz="1300" b="0" i="0" dirty="0">
                <a:solidFill>
                  <a:srgbClr val="2563EB"/>
                </a:solidFill>
                <a:latin typeface="Times New Roman"/>
                <a:cs typeface="Times New Roman"/>
              </a:rPr>
              <a:t>Course Name: Data Visualization  |  Awarded to: YERRAMSETTY Hemantha Jawahar Krishna Babu</a:t>
            </a:r>
          </a:p>
        </p:txBody>
      </p:sp>
      <p:pic>
        <p:nvPicPr>
          <p:cNvPr id="24" name="Picture 23" descr="Certificate_p1.png"/>
          <p:cNvPicPr>
            <a:picLocks noChangeAspect="1"/>
          </p:cNvPicPr>
          <p:nvPr/>
        </p:nvPicPr>
        <p:blipFill>
          <a:blip r:embed="rId3"/>
          <a:stretch>
            <a:fillRect/>
          </a:stretch>
        </p:blipFill>
        <p:spPr>
          <a:xfrm>
            <a:off x="2619756" y="1463040"/>
            <a:ext cx="6949440" cy="4919472"/>
          </a:xfrm>
          <a:prstGeom prst="rect">
            <a:avLst/>
          </a:prstGeom>
        </p:spPr>
      </p:pic>
    </p:spTree>
    <p:extLst>
      <p:ext uri="{BB962C8B-B14F-4D97-AF65-F5344CB8AC3E}">
        <p14:creationId xmlns:p14="http://schemas.microsoft.com/office/powerpoint/2010/main" val="39628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9768" y="2011680"/>
            <a:ext cx="11338560" cy="914400"/>
          </a:xfrm>
          <a:prstGeom prst="rect">
            <a:avLst/>
          </a:prstGeom>
        </p:spPr>
        <p:txBody>
          <a:bodyPr wrap="square" anchor="ctr">
            <a:normAutofit/>
          </a:bodyPr>
          <a:lstStyle/>
          <a:p>
            <a:pPr algn="ctr"/>
            <a:r>
              <a:rPr sz="2800" b="1" i="0" dirty="0">
                <a:solidFill>
                  <a:srgbClr val="1E3A5F"/>
                </a:solidFill>
                <a:latin typeface="Times New Roman"/>
                <a:cs typeface="Times New Roman"/>
              </a:rPr>
              <a:t>Thank You</a:t>
            </a:r>
            <a:endParaRPr lang="en-US" sz="2800" b="1" i="0" dirty="0">
              <a:solidFill>
                <a:srgbClr val="1E3A5F"/>
              </a:solidFill>
              <a:latin typeface="Times New Roman"/>
              <a:cs typeface="Times New Roman"/>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1828800" y="3108960"/>
            <a:ext cx="8503920" cy="731520"/>
          </a:xfrm>
        </p:spPr>
        <p:txBody>
          <a:bodyPr vert="horz" wrap="square" lIns="91440" tIns="45720" rIns="91440" bIns="45720" rtlCol="0" anchor="t">
            <a:normAutofit/>
          </a:bodyPr>
          <a:lstStyle/>
          <a:p>
            <a:pPr algn="ctr"/>
            <a:r>
              <a:rPr sz="2800" b="0" i="0" dirty="0">
                <a:solidFill>
                  <a:srgbClr val="2563EB"/>
                </a:solidFill>
                <a:latin typeface="Times New Roman"/>
                <a:cs typeface="Times New Roman"/>
              </a:rPr>
              <a:t>Questions and Discussion</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6" name="TextBox 45"/>
          <p:cNvSpPr txBox="1"/>
          <p:nvPr/>
        </p:nvSpPr>
        <p:spPr>
          <a:xfrm>
            <a:off x="3121777" y="4389120"/>
            <a:ext cx="5917967" cy="292388"/>
          </a:xfrm>
          <a:prstGeom prst="rect">
            <a:avLst/>
          </a:prstGeom>
          <a:noFill/>
        </p:spPr>
        <p:txBody>
          <a:bodyPr wrap="none" lIns="91440" tIns="45720" rIns="91440" bIns="45720" anchor="t">
            <a:spAutoFit/>
          </a:bodyPr>
          <a:lstStyle/>
          <a:p>
            <a:pPr algn="ctr"/>
            <a:r>
              <a:rPr sz="1300" b="0" i="1" dirty="0">
                <a:solidFill>
                  <a:srgbClr val="64748B"/>
                </a:solidFill>
                <a:latin typeface="Times New Roman"/>
                <a:cs typeface="Times New Roman"/>
              </a:rPr>
              <a:t>Seasonal Agriculture Performance Analysis  ·  VOIS AICTE Major Project 2026-2027</a:t>
            </a:r>
            <a:endParaRPr lang="en-US" sz="1300" b="0" i="1" dirty="0">
              <a:solidFill>
                <a:srgbClr val="64748B"/>
              </a:solidFill>
              <a:latin typeface="Times New Roman"/>
              <a:cs typeface="Times New Roman"/>
            </a:endParaRPr>
          </a:p>
        </p:txBody>
      </p:sp>
    </p:spTree>
    <p:extLst>
      <p:ext uri="{BB962C8B-B14F-4D97-AF65-F5344CB8AC3E}">
        <p14:creationId xmlns:p14="http://schemas.microsoft.com/office/powerpoint/2010/main" val="340174871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Seasonal Agriculture Performance Analysis</vt:lpstr>
      <vt:lpstr>PROBLEM STATEMENT</vt:lpstr>
      <vt:lpstr>Project Description</vt:lpstr>
      <vt:lpstr>WHO ARE THE END USERS?</vt:lpstr>
      <vt:lpstr>Technology Used</vt:lpstr>
      <vt:lpstr>Data Quality and Exploratory Analysis</vt:lpstr>
      <vt:lpstr>Seasonal Comparison of Agricultural Performance</vt:lpstr>
      <vt:lpstr>Environmental, Operational, and Economic Relationships</vt:lpstr>
      <vt:lpstr>Risk, Irrigation, and Regional Insights</vt:lpstr>
      <vt:lpstr>Conclusion</vt:lpstr>
      <vt:lpstr>Future Scope</vt:lpstr>
      <vt:lpstr>Project Repository</vt:lpstr>
      <vt:lpstr>VOIS Course Completion Certificate Course Name: Data Visualization  |  Awarded to: YERRAMSETTY Hemantha Jawahar Krishna Babu</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229</cp:revision>
  <dcterms:created xsi:type="dcterms:W3CDTF">2021-07-11T13:13:15Z</dcterms:created>
  <dcterms:modified xsi:type="dcterms:W3CDTF">2026-09-10T13:33:47Z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